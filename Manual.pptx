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Poppins" panose="00000500000000000000" pitchFamily="2" charset="0"/>
      <p:regular r:id="rId15"/>
      <p:bold r:id="rId16"/>
      <p:italic r:id="rId17"/>
      <p:boldItalic r:id="rId18"/>
    </p:embeddedFont>
    <p:embeddedFont>
      <p:font typeface="Urbanist" panose="020B060007020508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1FCFFE0-72E7-4BA7-A482-AA00F56C8AB0}">
  <a:tblStyle styleId="{11FCFFE0-72E7-4BA7-A482-AA00F56C8AB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2143125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Speed Quiz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2026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5275" y="3381375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運営マニュアル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143375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イベントを成功に導くためのエンジニアリング・ガイド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18195"/>
            <a:ext cx="3492400" cy="360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1518195"/>
            <a:ext cx="3492549" cy="360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1518195"/>
            <a:ext cx="3492400" cy="360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190872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962025" y="2670720"/>
            <a:ext cx="28469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管理者画面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62025" y="3404145"/>
            <a:ext cx="27113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index.html: 進行管理、問題作成、音源設定を行う中枢。セキュリティのためPCローカルで実行。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175" y="190872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4740175" y="2670720"/>
            <a:ext cx="284707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スクリーン画面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740175" y="3404145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m.html: プロジェクター投影用。QRコード、問題文、ランキングを16:9でダイナミックに表示。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475" y="190872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8518475" y="2670720"/>
            <a:ext cx="28469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参加者画面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518475" y="3404145"/>
            <a:ext cx="27113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h.html: 回答者のスマホ画面。4択ボタンでリアルタイムに応答。自撮り写真の登録も可能。</a:t>
            </a:r>
            <a:endParaRPr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104900" y="208017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897338" y="2080170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718500" y="2080170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システムを構成する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3つのファイル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1381125" y="1670595"/>
            <a:ext cx="10239375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管理者ログイン</a:t>
            </a:r>
            <a:r>
              <a:rPr lang="en-US" sz="15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初期パスワードは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「</a:t>
            </a:r>
            <a:r>
              <a:rPr lang="ja-JP" alt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〇〇〇〇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」。</a:t>
            </a:r>
            <a:r>
              <a:rPr lang="en-US" sz="15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操作権限を厳密に管理します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。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1381125" y="2194470"/>
            <a:ext cx="10239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データ保存: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設定内容はブラウザの「ローカルストレージ」に記憶。一度設定すれば再入力不要です。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1381125" y="2718345"/>
            <a:ext cx="10239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GitHubトークン保護: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インターネット上に公開せず、画面上の入力パネルから安全に設定します。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1381125" y="3242220"/>
            <a:ext cx="10239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セッション維持: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ブラウザのタブを閉じると認証が解除されるため、機密性が保たれます。</a:t>
            </a:r>
            <a:endParaRPr/>
          </a:p>
        </p:txBody>
      </p:sp>
      <p:pic>
        <p:nvPicPr>
          <p:cNvPr id="118" name="Google Shape;11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00" y="170869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2232570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00" y="275644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2500" y="3280320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初期セットアップと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セキュリティ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571500" y="1518195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100%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571500" y="2851695"/>
            <a:ext cx="5286375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自動同期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334125" y="1518195"/>
            <a:ext cx="555069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インフラ設定の自動化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334125" y="1984920"/>
            <a:ext cx="52863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「GitHub設定パネル」にトークン(ghp_...)を入力することで、問題作成時の画像アップロードが完全に自動化されます。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6677025" y="2746920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6715125" y="2746920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ユーザー名: h-sakamoto-tech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6677025" y="3032670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715125" y="3032670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リポジトリ: quiz-app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677025" y="3318420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715125" y="3318420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ディレクトリ: /images 内にタイムスタンプ付きで保存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GitHub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画像アップロード</a:t>
            </a: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設定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18195"/>
            <a:ext cx="5286375" cy="4768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18195"/>
            <a:ext cx="5286375" cy="4768304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857250" y="1803945"/>
            <a:ext cx="49506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90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音響シーンの独立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857250" y="2270670"/>
            <a:ext cx="4714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7つのシーンごとに異なるMP3を指定可能。ルール説明、締切、正解発表など、イベントの緊張感を音で演出します。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6619875" y="1803945"/>
            <a:ext cx="49506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90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ベースURLの活用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6619875" y="2270670"/>
            <a:ext cx="4714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音源フォルダのURLを入力するだけで、各シーンのパスを自動生成。「プレビュー再生」で事前に確認が可能です。</a:t>
            </a:r>
            <a:endParaRPr/>
          </a:p>
        </p:txBody>
      </p:sp>
      <p:pic>
        <p:nvPicPr>
          <p:cNvPr id="150" name="Google Shape;15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7250" y="1851570"/>
            <a:ext cx="2190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19875" y="1851570"/>
            <a:ext cx="2190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音源の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独立設定</a:t>
            </a: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と再生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 txBox="1"/>
          <p:nvPr/>
        </p:nvSpPr>
        <p:spPr>
          <a:xfrm>
            <a:off x="6334125" y="1518195"/>
            <a:ext cx="555069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直感的なエディタ機能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6334125" y="1984920"/>
            <a:ext cx="5550693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管理者画面から問題を即座に追加・削除。画像のプレビューはFirebaseからの読み込み時にキャッシュを回避する設計です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。</a:t>
            </a:r>
            <a:endParaRPr dirty="0"/>
          </a:p>
        </p:txBody>
      </p:sp>
      <p:sp>
        <p:nvSpPr>
          <p:cNvPr id="162" name="Google Shape;162;p18"/>
          <p:cNvSpPr txBox="1"/>
          <p:nvPr/>
        </p:nvSpPr>
        <p:spPr>
          <a:xfrm>
            <a:off x="6762750" y="3032670"/>
            <a:ext cx="4857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4択制: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A〜Dのボタンに完全対応。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6762750" y="3556545"/>
            <a:ext cx="4857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保存と反映: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設定後は必ず反映ボタンをクリック。</a:t>
            </a:r>
            <a:endParaRPr/>
          </a:p>
        </p:txBody>
      </p:sp>
      <p:pic>
        <p:nvPicPr>
          <p:cNvPr id="164" name="Google Shape;16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075533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3599408"/>
            <a:ext cx="1524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クイズ問題の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作成と管理</a:t>
            </a:r>
            <a:endParaRPr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18C30C0-524A-75E9-B034-0E164DAA0A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331" y="1403767"/>
            <a:ext cx="5398294" cy="35245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/>
          <p:nvPr/>
        </p:nvSpPr>
        <p:spPr>
          <a:xfrm>
            <a:off x="571500" y="2461170"/>
            <a:ext cx="11049000" cy="190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169158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456426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7436941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10309621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510733" y="822870"/>
            <a:ext cx="255219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1. 待機中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1327695"/>
            <a:ext cx="243066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QRコードを投影。参加者のエントリーを受付。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3383413" y="2851695"/>
            <a:ext cx="255219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2. ルール説明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3444180" y="3356520"/>
            <a:ext cx="243066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専用音源と共にルールを読み上げ、場の熱量を上げる。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256093" y="822869"/>
            <a:ext cx="255219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3. </a:t>
            </a:r>
            <a:r>
              <a:rPr lang="en-US" sz="1650" b="1" i="0" u="none" strike="noStrike" cap="none" dirty="0" err="1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第n問</a:t>
            </a:r>
            <a:r>
              <a:rPr lang="en-US" sz="1650" b="1" i="0" u="none" strike="noStrike" cap="none" dirty="0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650" b="1" i="0" u="none" strike="noStrike" cap="none" dirty="0" err="1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受付</a:t>
            </a:r>
            <a:endParaRPr dirty="0"/>
          </a:p>
        </p:txBody>
      </p:sp>
      <p:sp>
        <p:nvSpPr>
          <p:cNvPr id="182" name="Google Shape;182;p19"/>
          <p:cNvSpPr txBox="1"/>
          <p:nvPr/>
        </p:nvSpPr>
        <p:spPr>
          <a:xfrm>
            <a:off x="6316859" y="1322933"/>
            <a:ext cx="243066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問題文と画像を表示。回答者のスマホが有効化される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。</a:t>
            </a:r>
            <a:endParaRPr dirty="0"/>
          </a:p>
        </p:txBody>
      </p:sp>
      <p:sp>
        <p:nvSpPr>
          <p:cNvPr id="183" name="Google Shape;183;p19"/>
          <p:cNvSpPr txBox="1"/>
          <p:nvPr/>
        </p:nvSpPr>
        <p:spPr>
          <a:xfrm>
            <a:off x="9128774" y="2851695"/>
            <a:ext cx="255219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4. 締切発表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9189541" y="3356520"/>
            <a:ext cx="243066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TIME UP! と共に回答をロック。集計を開始。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295275" y="100012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 dirty="0" err="1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当日の進行フロ</a:t>
            </a:r>
            <a:r>
              <a:rPr lang="en-US" sz="4050" b="1" i="0" u="none" strike="noStrike" cap="none" dirty="0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ー</a:t>
            </a:r>
            <a:r>
              <a:rPr lang="en-US" sz="4050" b="1" i="0" u="none" strike="noStrike" cap="none" dirty="0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（</a:t>
            </a:r>
            <a:r>
              <a:rPr lang="en-US" sz="4050" b="1" i="0" u="none" strike="noStrike" cap="none" dirty="0" err="1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前半</a:t>
            </a:r>
            <a:r>
              <a:rPr lang="en-US" sz="4050" b="1" i="0" u="none" strike="noStrike" cap="none" dirty="0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）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740218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/>
          <p:nvPr/>
        </p:nvSpPr>
        <p:spPr>
          <a:xfrm>
            <a:off x="571500" y="2461170"/>
            <a:ext cx="11049000" cy="190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213360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600075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986790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488632" y="822870"/>
            <a:ext cx="348043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5. 全問終了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571500" y="1327695"/>
            <a:ext cx="33147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全クイズの終了をアナウンス。期待感を高める演出へ。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4355782" y="2851695"/>
            <a:ext cx="348043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6. 結果発表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4438650" y="3356520"/>
            <a:ext cx="33147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ドラムロール音と共に、優勝候補の期待を煽るタイトル表示。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8140065" y="822870"/>
            <a:ext cx="348043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7. </a:t>
            </a:r>
            <a:r>
              <a:rPr lang="en-US" sz="1650" b="1" i="0" u="none" strike="noStrike" cap="none" dirty="0" err="1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総合順位</a:t>
            </a:r>
            <a:endParaRPr dirty="0"/>
          </a:p>
        </p:txBody>
      </p:sp>
      <p:sp>
        <p:nvSpPr>
          <p:cNvPr id="200" name="Google Shape;200;p20"/>
          <p:cNvSpPr txBox="1"/>
          <p:nvPr/>
        </p:nvSpPr>
        <p:spPr>
          <a:xfrm>
            <a:off x="8305800" y="1327695"/>
            <a:ext cx="33147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詳細マトリクス表を投影。正解数とタイムの合算で優勝決定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。</a:t>
            </a:r>
            <a:endParaRPr dirty="0"/>
          </a:p>
        </p:txBody>
      </p:sp>
      <p:sp>
        <p:nvSpPr>
          <p:cNvPr id="201" name="Google Shape;201;p20"/>
          <p:cNvSpPr txBox="1"/>
          <p:nvPr/>
        </p:nvSpPr>
        <p:spPr>
          <a:xfrm>
            <a:off x="390525" y="161925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 dirty="0" err="1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当日の進行フロ</a:t>
            </a:r>
            <a:r>
              <a:rPr lang="en-US" sz="4050" b="1" i="0" u="none" strike="noStrike" cap="none" dirty="0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ー</a:t>
            </a:r>
            <a:r>
              <a:rPr lang="en-US" sz="4050" b="1" i="0" u="none" strike="noStrike" cap="none" dirty="0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（</a:t>
            </a:r>
            <a:r>
              <a:rPr lang="en-US" sz="4050" b="1" i="0" u="none" strike="noStrike" cap="none" dirty="0" err="1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後半</a:t>
            </a:r>
            <a:r>
              <a:rPr lang="en-US" sz="4050" b="1" i="0" u="none" strike="noStrike" cap="none" dirty="0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）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1"/>
          <p:cNvSpPr txBox="1"/>
          <p:nvPr/>
        </p:nvSpPr>
        <p:spPr>
          <a:xfrm>
            <a:off x="571500" y="571500"/>
            <a:ext cx="5200650" cy="1131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プロジェクター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投影の秘訣</a:t>
            </a:r>
            <a:endParaRPr/>
          </a:p>
        </p:txBody>
      </p:sp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571500" y="2083891"/>
            <a:ext cx="52006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没入感を高めるフルスクリーン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571500" y="2550616"/>
            <a:ext cx="4953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スクリーン画面（m.html）は100%自動伸縮設計。ブラウザの余計なインターフェースを排除します。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571500" y="3312616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Windows: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F11キーを押下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571500" y="3788866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Mac: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Control + Command + F キーを押下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571499" y="4360366"/>
            <a:ext cx="5200649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これにより完璧な16:9比率のクイズ番組空間が完成します。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508545"/>
            <a:ext cx="5095875" cy="6787753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571500" y="318045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HDMIサウンドの最適化</a:t>
            </a:r>
            <a:endParaRPr/>
          </a:p>
        </p:txBody>
      </p:sp>
      <p:sp>
        <p:nvSpPr>
          <p:cNvPr id="221" name="Google Shape;221;p22"/>
          <p:cNvSpPr txBox="1"/>
          <p:nvPr/>
        </p:nvSpPr>
        <p:spPr>
          <a:xfrm>
            <a:off x="571500" y="784770"/>
            <a:ext cx="5095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PCとプロジェクターを接続後、必ず「音の出口」を確認。イヤホンで聞こえる場合はシステム設定が優先されています。</a:t>
            </a:r>
            <a:endParaRPr/>
          </a:p>
        </p:txBody>
      </p:sp>
      <p:sp>
        <p:nvSpPr>
          <p:cNvPr id="222" name="Google Shape;222;p22"/>
          <p:cNvSpPr txBox="1"/>
          <p:nvPr/>
        </p:nvSpPr>
        <p:spPr>
          <a:xfrm>
            <a:off x="1000125" y="1880145"/>
            <a:ext cx="4667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Win: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右下スピーカー ＞ 出力を「HDMI」に変更。</a:t>
            </a:r>
            <a:endParaRPr/>
          </a:p>
        </p:txBody>
      </p:sp>
      <p:sp>
        <p:nvSpPr>
          <p:cNvPr id="223" name="Google Shape;223;p22"/>
          <p:cNvSpPr txBox="1"/>
          <p:nvPr/>
        </p:nvSpPr>
        <p:spPr>
          <a:xfrm>
            <a:off x="1000125" y="2404020"/>
            <a:ext cx="46672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Mac: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システム設定 ＞ サウンド ＞ 出力から「HDMI」を選択。</a:t>
            </a:r>
            <a:endParaRPr/>
          </a:p>
        </p:txBody>
      </p:sp>
      <p:pic>
        <p:nvPicPr>
          <p:cNvPr id="224" name="Google Shape;22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518070"/>
            <a:ext cx="5076825" cy="6768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1923008"/>
            <a:ext cx="200025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2446883"/>
            <a:ext cx="171450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2"/>
          <p:cNvSpPr txBox="1"/>
          <p:nvPr/>
        </p:nvSpPr>
        <p:spPr>
          <a:xfrm>
            <a:off x="571500" y="-62865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音響出力の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切り替え設定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oogle Shape;232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3" name="Google Shape;233;p23"/>
          <p:cNvGraphicFramePr/>
          <p:nvPr/>
        </p:nvGraphicFramePr>
        <p:xfrm>
          <a:off x="571500" y="1518195"/>
          <a:ext cx="11048975" cy="3038500"/>
        </p:xfrm>
        <a:graphic>
          <a:graphicData uri="http://schemas.openxmlformats.org/drawingml/2006/table">
            <a:tbl>
              <a:tblPr firstRow="1" bandRow="1">
                <a:noFill/>
                <a:tableStyleId>{11FCFFE0-72E7-4BA7-A482-AA00F56C8AB0}</a:tableStyleId>
              </a:tblPr>
              <a:tblGrid>
                <a:gridCol w="3240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事象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原因・対応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ステータス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画像が表示されない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設定保存後の「反映ボタン」押し忘れ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要確認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音が鳴らない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管理者PCの出力先がHDMI以外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即応</a:t>
                      </a:r>
                      <a:endParaRPr/>
                    </a:p>
                  </a:txBody>
                  <a:tcPr marL="28575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最初からやり直したい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「全データをリセット」ボタンを押下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リセット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回答が反映されない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管理者画面で「受付中」になっていない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進行管理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4" name="Google Shape;234;p23"/>
          <p:cNvSpPr/>
          <p:nvPr/>
        </p:nvSpPr>
        <p:spPr>
          <a:xfrm>
            <a:off x="571500" y="218018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3"/>
          <p:cNvSpPr/>
          <p:nvPr/>
        </p:nvSpPr>
        <p:spPr>
          <a:xfrm>
            <a:off x="3811637" y="218018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3"/>
          <p:cNvSpPr/>
          <p:nvPr/>
        </p:nvSpPr>
        <p:spPr>
          <a:xfrm>
            <a:off x="9125396" y="218018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3"/>
          <p:cNvSpPr/>
          <p:nvPr/>
        </p:nvSpPr>
        <p:spPr>
          <a:xfrm>
            <a:off x="571500" y="277073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3"/>
          <p:cNvSpPr/>
          <p:nvPr/>
        </p:nvSpPr>
        <p:spPr>
          <a:xfrm>
            <a:off x="3811637" y="277073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3"/>
          <p:cNvSpPr/>
          <p:nvPr/>
        </p:nvSpPr>
        <p:spPr>
          <a:xfrm>
            <a:off x="9125396" y="277073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571500" y="336128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/>
          <p:nvPr/>
        </p:nvSpPr>
        <p:spPr>
          <a:xfrm>
            <a:off x="3811637" y="336128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3"/>
          <p:cNvSpPr/>
          <p:nvPr/>
        </p:nvSpPr>
        <p:spPr>
          <a:xfrm>
            <a:off x="9125396" y="336128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/>
          <p:nvPr/>
        </p:nvSpPr>
        <p:spPr>
          <a:xfrm>
            <a:off x="571500" y="395183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/>
          <p:nvPr/>
        </p:nvSpPr>
        <p:spPr>
          <a:xfrm>
            <a:off x="3811637" y="395183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3"/>
          <p:cNvSpPr/>
          <p:nvPr/>
        </p:nvSpPr>
        <p:spPr>
          <a:xfrm>
            <a:off x="9125396" y="395183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3"/>
          <p:cNvSpPr/>
          <p:nvPr/>
        </p:nvSpPr>
        <p:spPr>
          <a:xfrm>
            <a:off x="571500" y="454238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3811637" y="454238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9125396" y="454238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" name="Google Shape;249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15896" y="2985045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315896" y="416614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15896" y="357559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315896" y="239449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315896" y="239449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15896" y="2985045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15896" y="357559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315896" y="4166145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3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トラブル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シューティング</a:t>
            </a: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一覧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4"/>
          <p:cNvSpPr txBox="1"/>
          <p:nvPr/>
        </p:nvSpPr>
        <p:spPr>
          <a:xfrm>
            <a:off x="295275" y="2524125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Success is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Coming!</a:t>
            </a:r>
            <a:endParaRPr/>
          </a:p>
        </p:txBody>
      </p:sp>
      <p:sp>
        <p:nvSpPr>
          <p:cNvPr id="265" name="Google Shape;265;p24"/>
          <p:cNvSpPr txBox="1"/>
          <p:nvPr/>
        </p:nvSpPr>
        <p:spPr>
          <a:xfrm>
            <a:off x="571500" y="4829175"/>
            <a:ext cx="11049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Speed Quiz 2026 Team</a:t>
            </a:r>
            <a:endParaRPr dirty="0"/>
          </a:p>
        </p:txBody>
      </p:sp>
      <p:pic>
        <p:nvPicPr>
          <p:cNvPr id="266" name="Google Shape;26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72150" y="1504950"/>
            <a:ext cx="647700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341</Words>
  <Application>Microsoft Office PowerPoint</Application>
  <PresentationFormat>ワイド画面</PresentationFormat>
  <Paragraphs>81</Paragraphs>
  <Slides>12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Calibri</vt:lpstr>
      <vt:lpstr>Urbanist</vt:lpstr>
      <vt:lpstr>Arial</vt:lpstr>
      <vt:lpstr>Poppins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Sakamoto Haruhiko</dc:creator>
  <cp:lastModifiedBy>坂本 晴彦</cp:lastModifiedBy>
  <cp:revision>5</cp:revision>
  <dcterms:modified xsi:type="dcterms:W3CDTF">2026-03-30T06:01:32Z</dcterms:modified>
</cp:coreProperties>
</file>