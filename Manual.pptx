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embeddedFontLst>
    <p:embeddedFont>
      <p:font typeface="Noto Serif JP" panose="02020200000000000000" pitchFamily="18" charset="-128"/>
      <p:regular r:id="rId15"/>
      <p:bold r:id="rId16"/>
    </p:embeddedFont>
    <p:embeddedFont>
      <p:font typeface="Lato" panose="020F0502020204030203" pitchFamily="34" charset="0"/>
      <p:regular r:id="rId17"/>
      <p:bold r:id="rId18"/>
      <p:italic r:id="rId19"/>
      <p:boldItalic r:id="rId20"/>
    </p:embeddedFont>
    <p:embeddedFont>
      <p:font typeface="Poppins" panose="00000500000000000000" pitchFamily="2" charset="0"/>
      <p:regular r:id="rId21"/>
      <p:bold r:id="rId22"/>
      <p:italic r:id="rId23"/>
      <p:boldItalic r:id="rId24"/>
    </p:embeddedFont>
    <p:embeddedFont>
      <p:font typeface="Poppins SemiBold" panose="020B0502040204020203" pitchFamily="2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3B13E00-24BA-47F0-805F-7E6D0E3C9D00}">
  <a:tblStyle styleId="{13B13E00-24BA-47F0-805F-7E6D0E3C9D00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font" Target="fonts/font12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font" Target="fonts/font14.fntdata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font" Target="fonts/font13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571500" y="2232719"/>
            <a:ext cx="11601450" cy="1508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10B981"/>
                </a:solidFill>
                <a:latin typeface="Poppins"/>
                <a:ea typeface="Poppins"/>
                <a:cs typeface="Poppins"/>
                <a:sym typeface="Poppins"/>
              </a:rPr>
              <a:t>Speed Quiz 26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5400" b="1" i="0" u="none" strike="noStrike" cap="none">
                <a:solidFill>
                  <a:srgbClr val="10B981"/>
                </a:solidFill>
                <a:latin typeface="Poppins"/>
                <a:ea typeface="Poppins"/>
                <a:cs typeface="Poppins"/>
                <a:sym typeface="Poppins"/>
              </a:rPr>
              <a:t> Administrator Manual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571500" y="3931741"/>
            <a:ext cx="11049000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クイズ大会システム</a:t>
            </a:r>
            <a:r>
              <a:rPr lang="en-US" sz="2100" b="0" i="0" u="none" strike="noStrike" cap="none" dirty="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100" b="0" i="0" u="none" strike="noStrike" cap="none" dirty="0" err="1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運営・操作ガイド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087165"/>
            <a:ext cx="3492549" cy="3750468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087165"/>
            <a:ext cx="3492549" cy="3750468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087165"/>
            <a:ext cx="3492549" cy="3750468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962025" y="3287315"/>
            <a:ext cx="2847074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管理者パネル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962025" y="3896915"/>
            <a:ext cx="2711499" cy="1340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問題の登録、クイズの開始・進行、データの初期化を行います。運営の心臓部です。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4740324" y="3287315"/>
            <a:ext cx="2847074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会場スクリーン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4740324" y="3896915"/>
            <a:ext cx="2711499" cy="1340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プロジェクター等で投影。QRコード、参加者一覧、クイズ画面、結果を表示します。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8518624" y="3287315"/>
            <a:ext cx="2847074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参加者スマホ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8518624" y="3896915"/>
            <a:ext cx="2711499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h.htmlを使用。自分の名前でログインし、4択ボタンで回答を送信します。</a:t>
            </a:r>
            <a:endParaRPr/>
          </a:p>
        </p:txBody>
      </p:sp>
      <p:pic>
        <p:nvPicPr>
          <p:cNvPr id="101" name="Google Shape;101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62025" y="2525315"/>
            <a:ext cx="600075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740324" y="2525315"/>
            <a:ext cx="53340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518624" y="2525315"/>
            <a:ext cx="3619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4"/>
          <p:cNvSpPr txBox="1"/>
          <p:nvPr/>
        </p:nvSpPr>
        <p:spPr>
          <a:xfrm>
            <a:off x="800100" y="571500"/>
            <a:ext cx="1136142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システム構成と役割</a:t>
            </a:r>
            <a:endParaRPr/>
          </a:p>
        </p:txBody>
      </p:sp>
      <p:sp>
        <p:nvSpPr>
          <p:cNvPr id="105" name="Google Shape;105;p14"/>
          <p:cNvSpPr/>
          <p:nvPr/>
        </p:nvSpPr>
        <p:spPr>
          <a:xfrm>
            <a:off x="571500" y="571500"/>
            <a:ext cx="76200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5"/>
          <p:cNvSpPr/>
          <p:nvPr/>
        </p:nvSpPr>
        <p:spPr>
          <a:xfrm>
            <a:off x="5524500" y="2386905"/>
            <a:ext cx="1143000" cy="5715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5"/>
          <p:cNvSpPr txBox="1"/>
          <p:nvPr/>
        </p:nvSpPr>
        <p:spPr>
          <a:xfrm>
            <a:off x="295275" y="2729805"/>
            <a:ext cx="1160145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Phase 1: 事前準備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571500" y="4063305"/>
            <a:ext cx="11049000" cy="426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問題作成と環境設定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19" name="Google Shape;119;p16"/>
          <p:cNvGraphicFramePr/>
          <p:nvPr>
            <p:extLst>
              <p:ext uri="{D42A27DB-BD31-4B8C-83A1-F6EECF244321}">
                <p14:modId xmlns:p14="http://schemas.microsoft.com/office/powerpoint/2010/main" val="2596248339"/>
              </p:ext>
            </p:extLst>
          </p:nvPr>
        </p:nvGraphicFramePr>
        <p:xfrm>
          <a:off x="571500" y="2700337"/>
          <a:ext cx="11049000" cy="2714600"/>
        </p:xfrm>
        <a:graphic>
          <a:graphicData uri="http://schemas.openxmlformats.org/drawingml/2006/table">
            <a:tbl>
              <a:tblPr firstRow="1" bandRow="1">
                <a:noFill/>
                <a:tableStyleId>{13B13E00-24BA-47F0-805F-7E6D0E3C9D00}</a:tableStyleId>
              </a:tblPr>
              <a:tblGrid>
                <a:gridCol w="2135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4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78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86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chemeClr val="tx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用途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chemeClr val="tx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ファイル名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chemeClr val="tx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アクセスパス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0B9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86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0" i="0" u="none" strike="noStrike" cap="none">
                          <a:solidFill>
                            <a:schemeClr val="tx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運営・管理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0" i="0" u="none" strike="noStrike" cap="none">
                          <a:solidFill>
                            <a:schemeClr val="tx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index.html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0" i="0" u="none" strike="noStrike" cap="none">
                          <a:solidFill>
                            <a:schemeClr val="tx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https://h-sakamoto-tech.github.io/quiz-app/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86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0" i="0" u="none" strike="noStrike" cap="none">
                          <a:solidFill>
                            <a:schemeClr val="tx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会場投影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0" i="0" u="none" strike="noStrike" cap="none">
                          <a:solidFill>
                            <a:schemeClr val="tx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m.html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0" i="0" u="none" strike="noStrike" cap="none">
                          <a:solidFill>
                            <a:schemeClr val="tx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.../quiz-app/m.html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86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0" i="0" u="none" strike="noStrike" cap="none">
                          <a:solidFill>
                            <a:schemeClr val="tx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参加者回答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0" i="0" u="none" strike="noStrike" cap="none">
                          <a:solidFill>
                            <a:schemeClr val="tx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h.html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0" i="0" u="none" strike="noStrike" cap="none" dirty="0">
                          <a:solidFill>
                            <a:schemeClr val="tx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.../quiz-app/h.html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0" name="Google Shape;120;p16"/>
          <p:cNvSpPr/>
          <p:nvPr/>
        </p:nvSpPr>
        <p:spPr>
          <a:xfrm>
            <a:off x="571500" y="4048125"/>
            <a:ext cx="213568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6"/>
          <p:cNvSpPr/>
          <p:nvPr/>
        </p:nvSpPr>
        <p:spPr>
          <a:xfrm>
            <a:off x="2707183" y="4048125"/>
            <a:ext cx="233496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6"/>
          <p:cNvSpPr/>
          <p:nvPr/>
        </p:nvSpPr>
        <p:spPr>
          <a:xfrm>
            <a:off x="5042148" y="4048125"/>
            <a:ext cx="657835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571500" y="4724400"/>
            <a:ext cx="213568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6"/>
          <p:cNvSpPr/>
          <p:nvPr/>
        </p:nvSpPr>
        <p:spPr>
          <a:xfrm>
            <a:off x="2707183" y="4724400"/>
            <a:ext cx="233496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6"/>
          <p:cNvSpPr/>
          <p:nvPr/>
        </p:nvSpPr>
        <p:spPr>
          <a:xfrm>
            <a:off x="5042148" y="4724400"/>
            <a:ext cx="657835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6"/>
          <p:cNvSpPr/>
          <p:nvPr/>
        </p:nvSpPr>
        <p:spPr>
          <a:xfrm>
            <a:off x="571500" y="5400675"/>
            <a:ext cx="213568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6"/>
          <p:cNvSpPr/>
          <p:nvPr/>
        </p:nvSpPr>
        <p:spPr>
          <a:xfrm>
            <a:off x="2707183" y="5400675"/>
            <a:ext cx="233496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6"/>
          <p:cNvSpPr/>
          <p:nvPr/>
        </p:nvSpPr>
        <p:spPr>
          <a:xfrm>
            <a:off x="5042148" y="5400675"/>
            <a:ext cx="657835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6"/>
          <p:cNvSpPr txBox="1"/>
          <p:nvPr/>
        </p:nvSpPr>
        <p:spPr>
          <a:xfrm>
            <a:off x="800100" y="571500"/>
            <a:ext cx="1136142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重要アクセスURL一覧</a:t>
            </a:r>
            <a:endParaRPr/>
          </a:p>
        </p:txBody>
      </p:sp>
      <p:sp>
        <p:nvSpPr>
          <p:cNvPr id="130" name="Google Shape;130;p16"/>
          <p:cNvSpPr/>
          <p:nvPr/>
        </p:nvSpPr>
        <p:spPr>
          <a:xfrm>
            <a:off x="571500" y="571500"/>
            <a:ext cx="76200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Google Shape;135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17"/>
          <p:cNvSpPr txBox="1"/>
          <p:nvPr/>
        </p:nvSpPr>
        <p:spPr>
          <a:xfrm>
            <a:off x="800100" y="1093886"/>
            <a:ext cx="496062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問題の登録方法</a:t>
            </a:r>
            <a:endParaRPr/>
          </a:p>
        </p:txBody>
      </p:sp>
      <p:sp>
        <p:nvSpPr>
          <p:cNvPr id="137" name="Google Shape;137;p17"/>
          <p:cNvSpPr/>
          <p:nvPr/>
        </p:nvSpPr>
        <p:spPr>
          <a:xfrm>
            <a:off x="571500" y="1093886"/>
            <a:ext cx="76200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7"/>
          <p:cNvSpPr txBox="1"/>
          <p:nvPr/>
        </p:nvSpPr>
        <p:spPr>
          <a:xfrm>
            <a:off x="571500" y="2370236"/>
            <a:ext cx="495300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管理者パネルの「Add</a:t>
            </a:r>
            <a:r>
              <a:rPr lang="en-US" sz="165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5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Question」ボタンから新しい問題を追加します</a:t>
            </a:r>
            <a:r>
              <a:rPr lang="en-US" sz="165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。</a:t>
            </a:r>
            <a:endParaRPr dirty="0"/>
          </a:p>
        </p:txBody>
      </p:sp>
      <p:sp>
        <p:nvSpPr>
          <p:cNvPr id="139" name="Google Shape;139;p17"/>
          <p:cNvSpPr txBox="1"/>
          <p:nvPr/>
        </p:nvSpPr>
        <p:spPr>
          <a:xfrm>
            <a:off x="571500" y="3459658"/>
            <a:ext cx="4953000" cy="1119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CBD5E1"/>
                </a:solidFill>
                <a:latin typeface="Noto Serif JP" panose="02020200000000000000" pitchFamily="18" charset="-128"/>
                <a:ea typeface="Noto Serif JP" panose="02020200000000000000" pitchFamily="18" charset="-128"/>
                <a:cs typeface="Lato"/>
                <a:sym typeface="Lato"/>
              </a:rPr>
              <a:t>1. Question: </a:t>
            </a:r>
            <a:r>
              <a:rPr lang="en-US" sz="1650" b="0" i="0" u="none" strike="noStrike" cap="none" dirty="0" err="1">
                <a:solidFill>
                  <a:srgbClr val="CBD5E1"/>
                </a:solidFill>
                <a:latin typeface="Noto Serif JP" panose="02020200000000000000" pitchFamily="18" charset="-128"/>
                <a:ea typeface="Noto Serif JP" panose="02020200000000000000" pitchFamily="18" charset="-128"/>
                <a:cs typeface="Lato"/>
                <a:sym typeface="Lato"/>
              </a:rPr>
              <a:t>問題文を入力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Noto Serif JP" panose="02020200000000000000" pitchFamily="18" charset="-128"/>
                <a:ea typeface="Noto Serif JP" panose="02020200000000000000" pitchFamily="18" charset="-128"/>
                <a:cs typeface="Calibri"/>
                <a:sym typeface="Calibri"/>
              </a:rPr>
            </a:br>
            <a:r>
              <a:rPr lang="en-US" sz="1650" b="0" i="0" u="none" strike="noStrike" cap="none" dirty="0">
                <a:solidFill>
                  <a:srgbClr val="CBD5E1"/>
                </a:solidFill>
                <a:latin typeface="Noto Serif JP" panose="02020200000000000000" pitchFamily="18" charset="-128"/>
                <a:ea typeface="Noto Serif JP" panose="02020200000000000000" pitchFamily="18" charset="-128"/>
                <a:cs typeface="Lato"/>
                <a:sym typeface="Lato"/>
              </a:rPr>
              <a:t>2. Options: 4つの選択肢を設定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Noto Serif JP" panose="02020200000000000000" pitchFamily="18" charset="-128"/>
                <a:ea typeface="Noto Serif JP" panose="02020200000000000000" pitchFamily="18" charset="-128"/>
                <a:cs typeface="Calibri"/>
                <a:sym typeface="Calibri"/>
              </a:rPr>
            </a:br>
            <a:r>
              <a:rPr lang="en-US" sz="1650" b="0" i="0" u="none" strike="noStrike" cap="none" dirty="0">
                <a:solidFill>
                  <a:srgbClr val="CBD5E1"/>
                </a:solidFill>
                <a:latin typeface="Noto Serif JP" panose="02020200000000000000" pitchFamily="18" charset="-128"/>
                <a:ea typeface="Noto Serif JP" panose="02020200000000000000" pitchFamily="18" charset="-128"/>
                <a:cs typeface="Lato"/>
                <a:sym typeface="Lato"/>
              </a:rPr>
              <a:t>3. Correct: </a:t>
            </a:r>
            <a:r>
              <a:rPr lang="en-US" sz="1650" b="0" i="0" u="none" strike="noStrike" cap="none" dirty="0" err="1">
                <a:solidFill>
                  <a:srgbClr val="CBD5E1"/>
                </a:solidFill>
                <a:latin typeface="Noto Serif JP" panose="02020200000000000000" pitchFamily="18" charset="-128"/>
                <a:ea typeface="Noto Serif JP" panose="02020200000000000000" pitchFamily="18" charset="-128"/>
                <a:cs typeface="Lato"/>
                <a:sym typeface="Lato"/>
              </a:rPr>
              <a:t>正解番号</a:t>
            </a:r>
            <a:r>
              <a:rPr lang="en-US" sz="1650" b="0" i="0" u="none" strike="noStrike" cap="none" dirty="0">
                <a:solidFill>
                  <a:srgbClr val="CBD5E1"/>
                </a:solidFill>
                <a:latin typeface="Noto Serif JP" panose="02020200000000000000" pitchFamily="18" charset="-128"/>
                <a:ea typeface="Noto Serif JP" panose="02020200000000000000" pitchFamily="18" charset="-128"/>
                <a:cs typeface="Lato"/>
                <a:sym typeface="Lato"/>
              </a:rPr>
              <a:t>(1-4)</a:t>
            </a:r>
            <a:r>
              <a:rPr lang="en-US" sz="1650" b="0" i="0" u="none" strike="noStrike" cap="none" dirty="0" err="1">
                <a:solidFill>
                  <a:srgbClr val="CBD5E1"/>
                </a:solidFill>
                <a:latin typeface="Noto Serif JP" panose="02020200000000000000" pitchFamily="18" charset="-128"/>
                <a:ea typeface="Noto Serif JP" panose="02020200000000000000" pitchFamily="18" charset="-128"/>
                <a:cs typeface="Lato"/>
                <a:sym typeface="Lato"/>
              </a:rPr>
              <a:t>を選択</a:t>
            </a:r>
            <a:endParaRPr dirty="0">
              <a:latin typeface="Noto Serif JP" panose="02020200000000000000" pitchFamily="18" charset="-128"/>
              <a:ea typeface="Noto Serif JP" panose="02020200000000000000" pitchFamily="18" charset="-128"/>
            </a:endParaRPr>
          </a:p>
        </p:txBody>
      </p:sp>
      <p:sp>
        <p:nvSpPr>
          <p:cNvPr id="140" name="Google Shape;140;p17"/>
          <p:cNvSpPr txBox="1"/>
          <p:nvPr/>
        </p:nvSpPr>
        <p:spPr>
          <a:xfrm>
            <a:off x="571500" y="5953432"/>
            <a:ext cx="10224320" cy="4062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重要</a:t>
            </a:r>
            <a:r>
              <a:rPr lang="en-US" sz="1650" b="1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:</a:t>
            </a:r>
            <a:r>
              <a:rPr lang="en-US" sz="165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[Save &amp; Update] </a:t>
            </a:r>
            <a:r>
              <a:rPr lang="en-US" sz="1650" b="0" i="0" u="none" strike="noStrike" cap="none" dirty="0" err="1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を押すことでFirebaseにデータが保存され、リアルタイムに反映されます</a:t>
            </a:r>
            <a:r>
              <a:rPr lang="en-US" sz="165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。</a:t>
            </a:r>
            <a:endParaRPr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0D459F1-110F-BAEC-4872-B59F184DBD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9308" y="904568"/>
            <a:ext cx="7257212" cy="47381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8"/>
          <p:cNvSpPr/>
          <p:nvPr/>
        </p:nvSpPr>
        <p:spPr>
          <a:xfrm>
            <a:off x="5524500" y="2386905"/>
            <a:ext cx="1143000" cy="5715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8"/>
          <p:cNvSpPr txBox="1"/>
          <p:nvPr/>
        </p:nvSpPr>
        <p:spPr>
          <a:xfrm>
            <a:off x="295275" y="2729805"/>
            <a:ext cx="1160145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Phase 2: 本番運営</a:t>
            </a:r>
            <a:endParaRPr/>
          </a:p>
        </p:txBody>
      </p:sp>
      <p:sp>
        <p:nvSpPr>
          <p:cNvPr id="149" name="Google Shape;149;p18"/>
          <p:cNvSpPr txBox="1"/>
          <p:nvPr/>
        </p:nvSpPr>
        <p:spPr>
          <a:xfrm>
            <a:off x="571500" y="4063305"/>
            <a:ext cx="11049000" cy="426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受付から結果発表まで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9"/>
          <p:cNvSpPr txBox="1"/>
          <p:nvPr/>
        </p:nvSpPr>
        <p:spPr>
          <a:xfrm>
            <a:off x="1047750" y="2878633"/>
            <a:ext cx="476250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スクリーンにQRコードを表示。</a:t>
            </a:r>
            <a:endParaRPr/>
          </a:p>
        </p:txBody>
      </p:sp>
      <p:sp>
        <p:nvSpPr>
          <p:cNvPr id="158" name="Google Shape;158;p19"/>
          <p:cNvSpPr txBox="1"/>
          <p:nvPr/>
        </p:nvSpPr>
        <p:spPr>
          <a:xfrm>
            <a:off x="1047750" y="3530054"/>
            <a:ext cx="476250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参加者は名前を入力し「参加」ボタン。</a:t>
            </a:r>
            <a:endParaRPr/>
          </a:p>
        </p:txBody>
      </p:sp>
      <p:sp>
        <p:nvSpPr>
          <p:cNvPr id="159" name="Google Shape;159;p19"/>
          <p:cNvSpPr txBox="1"/>
          <p:nvPr/>
        </p:nvSpPr>
        <p:spPr>
          <a:xfrm>
            <a:off x="1047750" y="4181475"/>
            <a:ext cx="4762500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会場画面(m.html)でリアルタイムに参加人数と名前を確認できます。</a:t>
            </a:r>
            <a:endParaRPr/>
          </a:p>
        </p:txBody>
      </p:sp>
      <p:pic>
        <p:nvPicPr>
          <p:cNvPr id="160" name="Google Shape;160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921496"/>
            <a:ext cx="247650" cy="295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572916"/>
            <a:ext cx="361950" cy="295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4224337"/>
            <a:ext cx="285750" cy="295275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9"/>
          <p:cNvSpPr txBox="1"/>
          <p:nvPr/>
        </p:nvSpPr>
        <p:spPr>
          <a:xfrm>
            <a:off x="800100" y="571500"/>
            <a:ext cx="1136142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参加者の受付</a:t>
            </a:r>
            <a:endParaRPr/>
          </a:p>
        </p:txBody>
      </p:sp>
      <p:sp>
        <p:nvSpPr>
          <p:cNvPr id="164" name="Google Shape;164;p19"/>
          <p:cNvSpPr/>
          <p:nvPr/>
        </p:nvSpPr>
        <p:spPr>
          <a:xfrm>
            <a:off x="571500" y="571500"/>
            <a:ext cx="76200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33E81C7-F893-4C2F-5850-10A193796C4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0" y="1316191"/>
            <a:ext cx="5593565" cy="479339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0"/>
          <p:cNvSpPr txBox="1"/>
          <p:nvPr/>
        </p:nvSpPr>
        <p:spPr>
          <a:xfrm>
            <a:off x="1428750" y="2735758"/>
            <a:ext cx="1019175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START QUIZ:</a:t>
            </a:r>
            <a:r>
              <a:rPr lang="en-US" sz="18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最初の問題を表示し、受付を終了します。</a:t>
            </a:r>
            <a:endParaRPr/>
          </a:p>
        </p:txBody>
      </p:sp>
      <p:sp>
        <p:nvSpPr>
          <p:cNvPr id="171" name="Google Shape;171;p20"/>
          <p:cNvSpPr txBox="1"/>
          <p:nvPr/>
        </p:nvSpPr>
        <p:spPr>
          <a:xfrm>
            <a:off x="1428750" y="3387179"/>
            <a:ext cx="1019175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SHOW ANSWER:</a:t>
            </a:r>
            <a:r>
              <a:rPr lang="en-US" sz="18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回答を締め切り、正解と統計を提示します。</a:t>
            </a:r>
            <a:endParaRPr/>
          </a:p>
        </p:txBody>
      </p:sp>
      <p:sp>
        <p:nvSpPr>
          <p:cNvPr id="172" name="Google Shape;172;p20"/>
          <p:cNvSpPr txBox="1"/>
          <p:nvPr/>
        </p:nvSpPr>
        <p:spPr>
          <a:xfrm>
            <a:off x="1428750" y="4038600"/>
            <a:ext cx="1019175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NEXT QUESTION:</a:t>
            </a:r>
            <a:r>
              <a:rPr lang="en-US" sz="18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全員が正解を確認したら、次の問題へ。</a:t>
            </a:r>
            <a:endParaRPr/>
          </a:p>
        </p:txBody>
      </p:sp>
      <p:sp>
        <p:nvSpPr>
          <p:cNvPr id="173" name="Google Shape;173;p20"/>
          <p:cNvSpPr txBox="1"/>
          <p:nvPr/>
        </p:nvSpPr>
        <p:spPr>
          <a:xfrm>
            <a:off x="1428750" y="4690020"/>
            <a:ext cx="1019175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SHOW RESULTS:</a:t>
            </a:r>
            <a:r>
              <a:rPr lang="en-US" sz="18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全問終了後、最終ランキングを表示。</a:t>
            </a:r>
            <a:endParaRPr/>
          </a:p>
        </p:txBody>
      </p:sp>
      <p:pic>
        <p:nvPicPr>
          <p:cNvPr id="174" name="Google Shape;174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2500" y="2778621"/>
            <a:ext cx="219075" cy="295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52500" y="3430041"/>
            <a:ext cx="323850" cy="295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52500" y="4081462"/>
            <a:ext cx="180975" cy="295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52500" y="4732883"/>
            <a:ext cx="323850" cy="295275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20"/>
          <p:cNvSpPr txBox="1"/>
          <p:nvPr/>
        </p:nvSpPr>
        <p:spPr>
          <a:xfrm>
            <a:off x="800100" y="571500"/>
            <a:ext cx="1136142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クイズの進行手順</a:t>
            </a:r>
            <a:endParaRPr/>
          </a:p>
        </p:txBody>
      </p:sp>
      <p:sp>
        <p:nvSpPr>
          <p:cNvPr id="179" name="Google Shape;179;p20"/>
          <p:cNvSpPr/>
          <p:nvPr/>
        </p:nvSpPr>
        <p:spPr>
          <a:xfrm>
            <a:off x="571500" y="571500"/>
            <a:ext cx="76200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1"/>
          <p:cNvSpPr/>
          <p:nvPr/>
        </p:nvSpPr>
        <p:spPr>
          <a:xfrm>
            <a:off x="952500" y="4419600"/>
            <a:ext cx="10287000" cy="3810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1"/>
          <p:cNvSpPr/>
          <p:nvPr/>
        </p:nvSpPr>
        <p:spPr>
          <a:xfrm>
            <a:off x="1771650" y="3694807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 w="38100" cap="flat" cmpd="sng">
            <a:solidFill>
              <a:srgbClr val="1E29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1"/>
          <p:cNvSpPr txBox="1"/>
          <p:nvPr/>
        </p:nvSpPr>
        <p:spPr>
          <a:xfrm>
            <a:off x="904875" y="4152007"/>
            <a:ext cx="20002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待機</a:t>
            </a:r>
            <a:endParaRPr/>
          </a:p>
        </p:txBody>
      </p:sp>
      <p:sp>
        <p:nvSpPr>
          <p:cNvPr id="188" name="Google Shape;188;p21"/>
          <p:cNvSpPr txBox="1"/>
          <p:nvPr/>
        </p:nvSpPr>
        <p:spPr>
          <a:xfrm>
            <a:off x="952500" y="4637782"/>
            <a:ext cx="19050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受付画面の投影</a:t>
            </a:r>
            <a:endParaRPr/>
          </a:p>
        </p:txBody>
      </p:sp>
      <p:sp>
        <p:nvSpPr>
          <p:cNvPr id="189" name="Google Shape;189;p21"/>
          <p:cNvSpPr/>
          <p:nvPr/>
        </p:nvSpPr>
        <p:spPr>
          <a:xfrm>
            <a:off x="4565600" y="3694807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 w="38100" cap="flat" cmpd="sng">
            <a:solidFill>
              <a:srgbClr val="1E29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1"/>
          <p:cNvSpPr txBox="1"/>
          <p:nvPr/>
        </p:nvSpPr>
        <p:spPr>
          <a:xfrm>
            <a:off x="3698825" y="4152007"/>
            <a:ext cx="20002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出題</a:t>
            </a:r>
            <a:endParaRPr/>
          </a:p>
        </p:txBody>
      </p:sp>
      <p:sp>
        <p:nvSpPr>
          <p:cNvPr id="191" name="Google Shape;191;p21"/>
          <p:cNvSpPr txBox="1"/>
          <p:nvPr/>
        </p:nvSpPr>
        <p:spPr>
          <a:xfrm>
            <a:off x="3746450" y="4637782"/>
            <a:ext cx="19050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問題文の表示</a:t>
            </a:r>
            <a:endParaRPr/>
          </a:p>
        </p:txBody>
      </p:sp>
      <p:sp>
        <p:nvSpPr>
          <p:cNvPr id="192" name="Google Shape;192;p21"/>
          <p:cNvSpPr/>
          <p:nvPr/>
        </p:nvSpPr>
        <p:spPr>
          <a:xfrm>
            <a:off x="7359550" y="3694807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 w="38100" cap="flat" cmpd="sng">
            <a:solidFill>
              <a:srgbClr val="1E29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1"/>
          <p:cNvSpPr txBox="1"/>
          <p:nvPr/>
        </p:nvSpPr>
        <p:spPr>
          <a:xfrm>
            <a:off x="6492775" y="4152007"/>
            <a:ext cx="20002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締切</a:t>
            </a:r>
            <a:endParaRPr/>
          </a:p>
        </p:txBody>
      </p:sp>
      <p:sp>
        <p:nvSpPr>
          <p:cNvPr id="194" name="Google Shape;194;p21"/>
          <p:cNvSpPr txBox="1"/>
          <p:nvPr/>
        </p:nvSpPr>
        <p:spPr>
          <a:xfrm>
            <a:off x="6540400" y="4637782"/>
            <a:ext cx="19050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正解の発表</a:t>
            </a:r>
            <a:endParaRPr/>
          </a:p>
        </p:txBody>
      </p:sp>
      <p:sp>
        <p:nvSpPr>
          <p:cNvPr id="195" name="Google Shape;195;p21"/>
          <p:cNvSpPr/>
          <p:nvPr/>
        </p:nvSpPr>
        <p:spPr>
          <a:xfrm>
            <a:off x="10153501" y="3694807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 w="38100" cap="flat" cmpd="sng">
            <a:solidFill>
              <a:srgbClr val="1E293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1"/>
          <p:cNvSpPr txBox="1"/>
          <p:nvPr/>
        </p:nvSpPr>
        <p:spPr>
          <a:xfrm>
            <a:off x="9286726" y="4152007"/>
            <a:ext cx="20002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発表</a:t>
            </a:r>
            <a:endParaRPr/>
          </a:p>
        </p:txBody>
      </p:sp>
      <p:sp>
        <p:nvSpPr>
          <p:cNvPr id="197" name="Google Shape;197;p21"/>
          <p:cNvSpPr txBox="1"/>
          <p:nvPr/>
        </p:nvSpPr>
        <p:spPr>
          <a:xfrm>
            <a:off x="9334351" y="4637782"/>
            <a:ext cx="19050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最終ランク表示</a:t>
            </a:r>
            <a:endParaRPr/>
          </a:p>
        </p:txBody>
      </p:sp>
      <p:sp>
        <p:nvSpPr>
          <p:cNvPr id="198" name="Google Shape;198;p21"/>
          <p:cNvSpPr txBox="1"/>
          <p:nvPr/>
        </p:nvSpPr>
        <p:spPr>
          <a:xfrm>
            <a:off x="800100" y="571500"/>
            <a:ext cx="1136142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運営コントロールのフロー</a:t>
            </a:r>
            <a:endParaRPr/>
          </a:p>
        </p:txBody>
      </p:sp>
      <p:sp>
        <p:nvSpPr>
          <p:cNvPr id="199" name="Google Shape;199;p21"/>
          <p:cNvSpPr/>
          <p:nvPr/>
        </p:nvSpPr>
        <p:spPr>
          <a:xfrm>
            <a:off x="571500" y="571500"/>
            <a:ext cx="76200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638300"/>
            <a:ext cx="11049000" cy="4648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22"/>
          <p:cNvSpPr txBox="1"/>
          <p:nvPr/>
        </p:nvSpPr>
        <p:spPr>
          <a:xfrm>
            <a:off x="571500" y="5737919"/>
            <a:ext cx="110490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1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Firebase Realtime Databaseの活用により、低遅延での同期を実現しています。</a:t>
            </a:r>
            <a:endParaRPr/>
          </a:p>
        </p:txBody>
      </p:sp>
      <p:sp>
        <p:nvSpPr>
          <p:cNvPr id="207" name="Google Shape;207;p22"/>
          <p:cNvSpPr txBox="1"/>
          <p:nvPr/>
        </p:nvSpPr>
        <p:spPr>
          <a:xfrm>
            <a:off x="800100" y="571500"/>
            <a:ext cx="1136142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システムパフォーマンス目標</a:t>
            </a:r>
            <a:endParaRPr/>
          </a:p>
        </p:txBody>
      </p:sp>
      <p:sp>
        <p:nvSpPr>
          <p:cNvPr id="208" name="Google Shape;208;p22"/>
          <p:cNvSpPr/>
          <p:nvPr/>
        </p:nvSpPr>
        <p:spPr>
          <a:xfrm>
            <a:off x="571500" y="571500"/>
            <a:ext cx="76200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" name="Google Shape;213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23"/>
          <p:cNvSpPr txBox="1"/>
          <p:nvPr/>
        </p:nvSpPr>
        <p:spPr>
          <a:xfrm>
            <a:off x="571500" y="3512939"/>
            <a:ext cx="5500687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画面が表示されない</a:t>
            </a:r>
            <a:endParaRPr/>
          </a:p>
        </p:txBody>
      </p:sp>
      <p:sp>
        <p:nvSpPr>
          <p:cNvPr id="215" name="Google Shape;215;p23"/>
          <p:cNvSpPr txBox="1"/>
          <p:nvPr/>
        </p:nvSpPr>
        <p:spPr>
          <a:xfrm>
            <a:off x="571500" y="3998714"/>
            <a:ext cx="523875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404エラーの場合はURL末尾を確認。変更直後ならCtrl+F5でキャッシュをクリアしてください。</a:t>
            </a:r>
            <a:endParaRPr/>
          </a:p>
        </p:txBody>
      </p:sp>
      <p:sp>
        <p:nvSpPr>
          <p:cNvPr id="216" name="Google Shape;216;p23"/>
          <p:cNvSpPr txBox="1"/>
          <p:nvPr/>
        </p:nvSpPr>
        <p:spPr>
          <a:xfrm>
            <a:off x="6381750" y="3512939"/>
            <a:ext cx="5500687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データを消去したい</a:t>
            </a:r>
            <a:endParaRPr/>
          </a:p>
        </p:txBody>
      </p:sp>
      <p:sp>
        <p:nvSpPr>
          <p:cNvPr id="217" name="Google Shape;217;p23"/>
          <p:cNvSpPr txBox="1"/>
          <p:nvPr/>
        </p:nvSpPr>
        <p:spPr>
          <a:xfrm>
            <a:off x="6381750" y="3998714"/>
            <a:ext cx="5238750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管理画面最下部の「Reset Data」を実行してください。参加者とスコアがすべてリセットされます。</a:t>
            </a:r>
            <a:endParaRPr/>
          </a:p>
        </p:txBody>
      </p:sp>
      <p:pic>
        <p:nvPicPr>
          <p:cNvPr id="218" name="Google Shape;218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084314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3084314"/>
            <a:ext cx="2667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23"/>
          <p:cNvSpPr txBox="1"/>
          <p:nvPr/>
        </p:nvSpPr>
        <p:spPr>
          <a:xfrm>
            <a:off x="800100" y="571500"/>
            <a:ext cx="1136142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トラブルシューティング</a:t>
            </a:r>
            <a:endParaRPr/>
          </a:p>
        </p:txBody>
      </p:sp>
      <p:sp>
        <p:nvSpPr>
          <p:cNvPr id="221" name="Google Shape;221;p23"/>
          <p:cNvSpPr/>
          <p:nvPr/>
        </p:nvSpPr>
        <p:spPr>
          <a:xfrm>
            <a:off x="571500" y="571500"/>
            <a:ext cx="76200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6" name="Google Shape;226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4"/>
          <p:cNvSpPr txBox="1"/>
          <p:nvPr/>
        </p:nvSpPr>
        <p:spPr>
          <a:xfrm>
            <a:off x="88797" y="4043209"/>
            <a:ext cx="11601450" cy="914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5400" b="1" i="0" u="none" strike="noStrike" cap="none" dirty="0">
                <a:solidFill>
                  <a:srgbClr val="10B981"/>
                </a:solidFill>
                <a:latin typeface="Poppins"/>
                <a:ea typeface="Poppins"/>
                <a:cs typeface="Poppins"/>
                <a:sym typeface="Poppins"/>
              </a:rPr>
              <a:t>以上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230</Words>
  <Application>Microsoft Office PowerPoint</Application>
  <PresentationFormat>ワイド画面</PresentationFormat>
  <Paragraphs>56</Paragraphs>
  <Slides>12</Slides>
  <Notes>12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9" baseType="lpstr">
      <vt:lpstr>Calibri</vt:lpstr>
      <vt:lpstr>Lato</vt:lpstr>
      <vt:lpstr>Poppins</vt:lpstr>
      <vt:lpstr>Arial</vt:lpstr>
      <vt:lpstr>Noto Serif JP</vt:lpstr>
      <vt:lpstr>Poppins SemiBold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Sakamoto Haruhiko</dc:creator>
  <cp:lastModifiedBy>坂本 晴彦</cp:lastModifiedBy>
  <cp:revision>1</cp:revision>
  <dcterms:modified xsi:type="dcterms:W3CDTF">2026-03-18T00:21:42Z</dcterms:modified>
</cp:coreProperties>
</file>